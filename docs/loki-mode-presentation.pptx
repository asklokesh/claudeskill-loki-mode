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0939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4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Loki Mode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First Truly Autonomous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Multi-Agent Startup System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0" y="3383280"/>
            <a:ext cx="4572000" cy="548640"/>
          </a:xfrm>
          <a:prstGeom prst="rect">
            <a:avLst/>
          </a:prstGeom>
          <a:solidFill>
            <a:srgbClr val="1E1E1D"/>
          </a:solidFill>
          <a:ln w="6350">
            <a:solidFill>
              <a:srgbClr val="B0AE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0" y="33832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loki start ./my-startup.md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411980"/>
            <a:ext cx="9144000" cy="731520"/>
          </a:xfrm>
          <a:prstGeom prst="rect">
            <a:avLst/>
          </a:prstGeom>
          <a:solidFill>
            <a:srgbClr val="1E1E1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4594860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64208" y="45948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AF9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575+ Stars</a:t>
            </a:r>
            <a:endParaRPr lang="en-US" sz="1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0" y="4594860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315968" y="45948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AF9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110+ Forks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94860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327648" y="45948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AE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github.com/asklokesh/loki-mode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Linear Coding is Dead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828800" cy="54864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914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91440" cy="914400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630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39903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Single-Agent Bottleneck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417320" y="170992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Legacy AI tools are single-player. One prompt, one snippet, then they wait.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57200" y="2286000"/>
            <a:ext cx="91440" cy="914400"/>
          </a:xfrm>
          <a:prstGeom prst="rect">
            <a:avLst/>
          </a:prstGeom>
          <a:solidFill>
            <a:srgbClr val="6A9BC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51460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45059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Humans Are The Bottleneck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1417320" y="276148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still handle deployment, QA, and operations manually.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57200" y="3337560"/>
            <a:ext cx="8229600" cy="914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457200" y="3337560"/>
            <a:ext cx="91440" cy="914400"/>
          </a:xfrm>
          <a:prstGeom prst="rect">
            <a:avLst/>
          </a:prstGeom>
          <a:solidFill>
            <a:srgbClr val="788C5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56616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50215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Scale is Impossible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417320" y="381304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can't clone your best engineer. Every task is sequential.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E8E6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457200" y="46634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Old Way: Sequential &amp; Blocked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572000" y="46634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Loki Way: Parallel &amp; Autonomous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Meet the Swarm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PRD in. Revenue out.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51760" cy="1554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51760" cy="73152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D97757"/>
                </a:solidFill>
                <a:latin typeface="Poppins" pitchFamily="34" charset="0"/>
                <a:cs typeface="Poppins" pitchFamily="34" charset="-120"/>
              </a:rPr>
              <a:t>41+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Specialized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Types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417320"/>
            <a:ext cx="2651760" cy="1554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91840" y="1417320"/>
            <a:ext cx="2651760" cy="73152"/>
          </a:xfrm>
          <a:prstGeom prst="rect">
            <a:avLst/>
          </a:prstGeom>
          <a:solidFill>
            <a:srgbClr val="6A9B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91840" y="15544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6A9BCC"/>
                </a:solidFill>
                <a:latin typeface="Poppins" pitchFamily="34" charset="0"/>
                <a:cs typeface="Poppins" pitchFamily="34" charset="-120"/>
              </a:rPr>
              <a:t>7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3291840" y="23774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Autonomous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Swarms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417320"/>
            <a:ext cx="2651760" cy="1554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26480" y="1417320"/>
            <a:ext cx="2651760" cy="73152"/>
          </a:xfrm>
          <a:prstGeom prst="rect">
            <a:avLst/>
          </a:prstGeom>
          <a:solidFill>
            <a:srgbClr val="788C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26480" y="15544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788C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100+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6126480" y="23774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Parallel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154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Six Swarms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31520" y="3611880"/>
            <a:ext cx="822960" cy="82296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794760"/>
            <a:ext cx="457200" cy="4572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94360" y="44805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Engineering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103120" y="3611880"/>
            <a:ext cx="822960" cy="822960"/>
          </a:xfrm>
          <a:prstGeom prst="ellipse">
            <a:avLst/>
          </a:prstGeom>
          <a:solidFill>
            <a:srgbClr val="6A9BC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3794760"/>
            <a:ext cx="457200" cy="45720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965960" y="44805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Ops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3474720" y="3611880"/>
            <a:ext cx="822960" cy="822960"/>
          </a:xfrm>
          <a:prstGeom prst="ellipse">
            <a:avLst/>
          </a:prstGeom>
          <a:solidFill>
            <a:srgbClr val="788C5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3794760"/>
            <a:ext cx="457200" cy="4572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3337560" y="44805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4846320" y="3611880"/>
            <a:ext cx="822960" cy="82296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794760"/>
            <a:ext cx="457200" cy="4572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4709160" y="44805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6217920" y="3611880"/>
            <a:ext cx="822960" cy="822960"/>
          </a:xfrm>
          <a:prstGeom prst="ellipse">
            <a:avLst/>
          </a:prstGeom>
          <a:solidFill>
            <a:srgbClr val="6A9BC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3794760"/>
            <a:ext cx="457200" cy="45720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080760" y="44805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7589520" y="3611880"/>
            <a:ext cx="822960" cy="822960"/>
          </a:xfrm>
          <a:prstGeom prst="ellipse">
            <a:avLst/>
          </a:prstGeom>
          <a:solidFill>
            <a:srgbClr val="788C5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0" y="3794760"/>
            <a:ext cx="457200" cy="45720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452360" y="44805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Self-Healing &amp; Self-Verifying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RARV Cycle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1005840" cy="100584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7373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560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Reason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834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Analyze &amp; plan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828800" y="1783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34640" y="1463040"/>
            <a:ext cx="1005840" cy="1005840"/>
          </a:xfrm>
          <a:prstGeom prst="ellipse">
            <a:avLst/>
          </a:prstGeom>
          <a:solidFill>
            <a:srgbClr val="6A9BC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0" y="173736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651760" y="2560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Act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2651760" y="2834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Execute code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931920" y="1783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0"/>
          <p:cNvSpPr/>
          <p:nvPr/>
        </p:nvSpPr>
        <p:spPr>
          <a:xfrm>
            <a:off x="4937760" y="1463040"/>
            <a:ext cx="1005840" cy="1005840"/>
          </a:xfrm>
          <a:prstGeom prst="ellipse">
            <a:avLst/>
          </a:prstGeom>
          <a:solidFill>
            <a:srgbClr val="788C5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0" y="173736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754880" y="2560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Reflect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4754880" y="2834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results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035040" y="1783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B0AE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Shape 14"/>
          <p:cNvSpPr/>
          <p:nvPr/>
        </p:nvSpPr>
        <p:spPr>
          <a:xfrm>
            <a:off x="7040880" y="1463040"/>
            <a:ext cx="1005840" cy="100584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173736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858000" y="2560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Verify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6858000" y="2834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Validate output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57200" y="3429000"/>
            <a:ext cx="8229600" cy="1417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457200" y="3429000"/>
            <a:ext cx="91440" cy="1417320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/>
          <p:nvPr/>
        </p:nvSpPr>
        <p:spPr>
          <a:xfrm>
            <a:off x="731520" y="3566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Benchmark Results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731520" y="38862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98.78%</a:t>
            </a:r>
            <a:endParaRPr lang="en-US" sz="3600" dirty="0"/>
          </a:p>
        </p:txBody>
      </p:sp>
      <p:sp>
        <p:nvSpPr>
          <p:cNvPr id="27" name="Text 21"/>
          <p:cNvSpPr/>
          <p:nvPr/>
        </p:nvSpPr>
        <p:spPr>
          <a:xfrm>
            <a:off x="731520" y="4434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HumanEval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3017520" y="38862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6A9B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99.67%</a:t>
            </a:r>
            <a:endParaRPr lang="en-US" sz="3600" dirty="0"/>
          </a:p>
        </p:txBody>
      </p:sp>
      <p:sp>
        <p:nvSpPr>
          <p:cNvPr id="29" name="Text 23"/>
          <p:cNvSpPr/>
          <p:nvPr/>
        </p:nvSpPr>
        <p:spPr>
          <a:xfrm>
            <a:off x="3017520" y="4434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SWE-bench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5486400" y="40233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+13% vs MetaGPT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Matches Claude Opus direct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Your Model, Your Rules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v5.0.0 Multi-Provider Architecture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51760" cy="1828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51760" cy="91440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463040" y="1645920"/>
            <a:ext cx="640080" cy="64008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7373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3774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Claude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57200" y="27432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Default Powerhouse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91840" y="1417320"/>
            <a:ext cx="2651760" cy="1828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291840" y="1417320"/>
            <a:ext cx="2651760" cy="91440"/>
          </a:xfrm>
          <a:prstGeom prst="rect">
            <a:avLst/>
          </a:prstGeom>
          <a:solidFill>
            <a:srgbClr val="6A9B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297680" y="1645920"/>
            <a:ext cx="640080" cy="640080"/>
          </a:xfrm>
          <a:prstGeom prst="ellipse">
            <a:avLst/>
          </a:prstGeom>
          <a:solidFill>
            <a:srgbClr val="6A9BC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73736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91840" y="23774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OpenAI Codex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3291840" y="27432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 Flexibility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126480" y="1417320"/>
            <a:ext cx="2651760" cy="1828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126480" y="1417320"/>
            <a:ext cx="2651760" cy="91440"/>
          </a:xfrm>
          <a:prstGeom prst="rect">
            <a:avLst/>
          </a:prstGeom>
          <a:solidFill>
            <a:srgbClr val="788C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7132320" y="1645920"/>
            <a:ext cx="640080" cy="640080"/>
          </a:xfrm>
          <a:prstGeom prst="ellipse">
            <a:avLst/>
          </a:prstGeom>
          <a:solidFill>
            <a:srgbClr val="788C5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173736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126480" y="23774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Google Gemini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6126480" y="27432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Massive Context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457200" y="3520440"/>
            <a:ext cx="8229600" cy="12801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457200" y="3520440"/>
            <a:ext cx="91440" cy="1280160"/>
          </a:xfrm>
          <a:prstGeom prst="rect">
            <a:avLst/>
          </a:prstGeom>
          <a:solidFill>
            <a:srgbClr val="788C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731520" y="37033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Vendor Lock-in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731520" y="41148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Switch brains as the market evolves. Loki Mode adapts to your preferred provider without code changes. Future-proof your infrastructure.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From Code to Company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 Human Intervention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60120" y="1764792"/>
            <a:ext cx="7223760" cy="0"/>
          </a:xfrm>
          <a:prstGeom prst="line">
            <a:avLst/>
          </a:prstGeom>
          <a:noFill/>
          <a:ln w="25400">
            <a:solidFill>
              <a:srgbClr val="B0AE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417320"/>
            <a:ext cx="694944" cy="69494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1536192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221992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PRD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971800" y="1417320"/>
            <a:ext cx="694944" cy="694944"/>
          </a:xfrm>
          <a:prstGeom prst="ellipse">
            <a:avLst/>
          </a:prstGeom>
          <a:solidFill>
            <a:srgbClr val="6A9BC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0672" y="1536192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651760" y="2221992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120640" y="1417320"/>
            <a:ext cx="694944" cy="694944"/>
          </a:xfrm>
          <a:prstGeom prst="ellipse">
            <a:avLst/>
          </a:prstGeom>
          <a:solidFill>
            <a:srgbClr val="788C5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9512" y="1536192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800600" y="2221992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 Gates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7269480" y="1417320"/>
            <a:ext cx="694944" cy="694944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8352" y="1536192"/>
            <a:ext cx="457200" cy="4572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949440" y="2221992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Production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457200" y="2651760"/>
            <a:ext cx="4023360" cy="914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2"/>
          <p:cNvSpPr/>
          <p:nvPr/>
        </p:nvSpPr>
        <p:spPr>
          <a:xfrm>
            <a:off x="457200" y="2651760"/>
            <a:ext cx="91440" cy="914400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3"/>
          <p:cNvSpPr/>
          <p:nvPr/>
        </p:nvSpPr>
        <p:spPr>
          <a:xfrm>
            <a:off x="685800" y="2788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 Lifecycle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685800" y="3154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→ Dev → QA → Deploy → Marketing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4617720" y="2651760"/>
            <a:ext cx="4023360" cy="914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4617720" y="2651760"/>
            <a:ext cx="91440" cy="914400"/>
          </a:xfrm>
          <a:prstGeom prst="rect">
            <a:avLst/>
          </a:prstGeom>
          <a:solidFill>
            <a:srgbClr val="6A9B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/>
          <p:nvPr/>
        </p:nvSpPr>
        <p:spPr>
          <a:xfrm>
            <a:off x="4846320" y="2788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 Quality Gates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4846320" y="3154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audits, accessibility, load testing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457200" y="3703320"/>
            <a:ext cx="4023360" cy="914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457200" y="3703320"/>
            <a:ext cx="91440" cy="914400"/>
          </a:xfrm>
          <a:prstGeom prst="rect">
            <a:avLst/>
          </a:prstGeom>
          <a:solidFill>
            <a:srgbClr val="788C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/>
          <p:nvPr/>
        </p:nvSpPr>
        <p:spPr>
          <a:xfrm>
            <a:off x="685800" y="3840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Real-World Ops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685800" y="4206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AWS/GCP/Vercel with blue-green strategies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4617720" y="3703320"/>
            <a:ext cx="4023360" cy="914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4617720" y="3703320"/>
            <a:ext cx="91440" cy="914400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/>
          <p:nvPr/>
        </p:nvSpPr>
        <p:spPr>
          <a:xfrm>
            <a:off x="4846320" y="3840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Production Ready</a:t>
            </a:r>
            <a:endParaRPr lang="en-US" sz="1500" dirty="0"/>
          </a:p>
        </p:txBody>
      </p:sp>
      <p:sp>
        <p:nvSpPr>
          <p:cNvPr id="32" name="Text 26"/>
          <p:cNvSpPr/>
          <p:nvPr/>
        </p:nvSpPr>
        <p:spPr>
          <a:xfrm>
            <a:off x="4846320" y="4206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'it compiles' — it has customers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Movement is Born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828800" cy="54864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51760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4630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575+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457200" y="2560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 Stars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91840" y="1280160"/>
            <a:ext cx="2651760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46304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9184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6A9B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113</a:t>
            </a:r>
            <a:endParaRPr lang="en-US" sz="4000" dirty="0"/>
          </a:p>
        </p:txBody>
      </p:sp>
      <p:sp>
        <p:nvSpPr>
          <p:cNvPr id="11" name="Text 7"/>
          <p:cNvSpPr/>
          <p:nvPr/>
        </p:nvSpPr>
        <p:spPr>
          <a:xfrm>
            <a:off x="3291840" y="2560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Forks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126480" y="1280160"/>
            <a:ext cx="2651760" cy="1737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146304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2648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788C5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v5.18</a:t>
            </a:r>
            <a:endParaRPr lang="en-US" sz="4000" dirty="0"/>
          </a:p>
        </p:txBody>
      </p:sp>
      <p:sp>
        <p:nvSpPr>
          <p:cNvPr id="15" name="Text 10"/>
          <p:cNvSpPr/>
          <p:nvPr/>
        </p:nvSpPr>
        <p:spPr>
          <a:xfrm>
            <a:off x="6126480" y="2560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Latest Release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Get Started in Seconds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457200" y="3657600"/>
            <a:ext cx="73152" cy="411480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685800" y="36576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14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npm install -g loki-mode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57200" y="4114800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457200" y="4114800"/>
            <a:ext cx="73152" cy="411480"/>
          </a:xfrm>
          <a:prstGeom prst="rect">
            <a:avLst/>
          </a:prstGeom>
          <a:solidFill>
            <a:srgbClr val="6A9B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685800" y="41148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14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brew install asklokesh/tap/loki-mode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457200" y="4572000"/>
            <a:ext cx="73152" cy="411480"/>
          </a:xfrm>
          <a:prstGeom prst="rect">
            <a:avLst/>
          </a:prstGeom>
          <a:solidFill>
            <a:srgbClr val="788C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685800" y="45720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141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docker pull asklokesh/loki-mode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Full Platform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828800" cy="54864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Beyond code generation. A complete autonomous development platform.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651760" cy="12801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651760" cy="54864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94360" y="1737360"/>
            <a:ext cx="365760" cy="36576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801368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17190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3-Tier Memory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94360" y="21945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Episodic, Semantic, Procedural memory with progressive disclosure and token economics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291840" y="1554480"/>
            <a:ext cx="2651760" cy="12801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291840" y="1554480"/>
            <a:ext cx="2651760" cy="54864"/>
          </a:xfrm>
          <a:prstGeom prst="rect">
            <a:avLst/>
          </a:prstGeom>
          <a:solidFill>
            <a:srgbClr val="6A9B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429000" y="1737360"/>
            <a:ext cx="365760" cy="365760"/>
          </a:xfrm>
          <a:prstGeom prst="ellipse">
            <a:avLst/>
          </a:prstGeom>
          <a:solidFill>
            <a:srgbClr val="6A9BC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3008" y="1801368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886200" y="17190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MCP Server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429000" y="21945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tools exposing Loki Mode to Claude Code via Model Context Protocol with full STDIO/HTTP transport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126480" y="1554480"/>
            <a:ext cx="2651760" cy="12801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6126480" y="1554480"/>
            <a:ext cx="2651760" cy="54864"/>
          </a:xfrm>
          <a:prstGeom prst="rect">
            <a:avLst/>
          </a:prstGeom>
          <a:solidFill>
            <a:srgbClr val="788C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6263640" y="1737360"/>
            <a:ext cx="365760" cy="365760"/>
          </a:xfrm>
          <a:prstGeom prst="ellipse">
            <a:avLst/>
          </a:prstGeom>
          <a:solidFill>
            <a:srgbClr val="788C5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7648" y="1801368"/>
            <a:ext cx="237744" cy="23774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720840" y="17190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Voice Input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263640" y="21945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Dictate PRDs using macOS Dictation, Whisper API, or local Whisper. Speak your startup into existence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457200" y="2971800"/>
            <a:ext cx="2651760" cy="12801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457200" y="2971800"/>
            <a:ext cx="2651760" cy="54864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594360" y="3154680"/>
            <a:ext cx="365760" cy="36576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3218688"/>
            <a:ext cx="237744" cy="23774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51560" y="31363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Event Bus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594360" y="36118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Cross-process pub/sub system. Python, TypeScript, Bash. File-based persistence survives crashes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3291840" y="2971800"/>
            <a:ext cx="2651760" cy="12801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3291840" y="2971800"/>
            <a:ext cx="2651760" cy="54864"/>
          </a:xfrm>
          <a:prstGeom prst="rect">
            <a:avLst/>
          </a:prstGeom>
          <a:solidFill>
            <a:srgbClr val="6A9B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5"/>
          <p:cNvSpPr/>
          <p:nvPr/>
        </p:nvSpPr>
        <p:spPr>
          <a:xfrm>
            <a:off x="3429000" y="3154680"/>
            <a:ext cx="365760" cy="365760"/>
          </a:xfrm>
          <a:prstGeom prst="ellipse">
            <a:avLst/>
          </a:prstGeom>
          <a:solidFill>
            <a:srgbClr val="6A9BC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93008" y="3218688"/>
            <a:ext cx="237744" cy="237744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3886200" y="31363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VS Code Extension</a:t>
            </a:r>
            <a:endParaRPr lang="en-US" sz="1400" dirty="0"/>
          </a:p>
        </p:txBody>
      </p:sp>
      <p:sp>
        <p:nvSpPr>
          <p:cNvPr id="34" name="Text 27"/>
          <p:cNvSpPr/>
          <p:nvPr/>
        </p:nvSpPr>
        <p:spPr>
          <a:xfrm>
            <a:off x="3429000" y="36118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 sidebar, token economics panel. See patterns, episodes, and skills right in your editor</a:t>
            </a:r>
            <a:endParaRPr lang="en-US" sz="950" dirty="0"/>
          </a:p>
        </p:txBody>
      </p:sp>
      <p:sp>
        <p:nvSpPr>
          <p:cNvPr id="35" name="Shape 28"/>
          <p:cNvSpPr/>
          <p:nvPr/>
        </p:nvSpPr>
        <p:spPr>
          <a:xfrm>
            <a:off x="6126480" y="2971800"/>
            <a:ext cx="2651760" cy="12801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29"/>
          <p:cNvSpPr/>
          <p:nvPr/>
        </p:nvSpPr>
        <p:spPr>
          <a:xfrm>
            <a:off x="6126480" y="2971800"/>
            <a:ext cx="2651760" cy="54864"/>
          </a:xfrm>
          <a:prstGeom prst="rect">
            <a:avLst/>
          </a:prstGeom>
          <a:solidFill>
            <a:srgbClr val="788C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0"/>
          <p:cNvSpPr/>
          <p:nvPr/>
        </p:nvSpPr>
        <p:spPr>
          <a:xfrm>
            <a:off x="6263640" y="3154680"/>
            <a:ext cx="365760" cy="365760"/>
          </a:xfrm>
          <a:prstGeom prst="ellipse">
            <a:avLst/>
          </a:prstGeom>
          <a:solidFill>
            <a:srgbClr val="788C5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7648" y="3218688"/>
            <a:ext cx="237744" cy="237744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720840" y="31363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Lifecycle Hooks</a:t>
            </a:r>
            <a:endParaRPr lang="en-US" sz="1400" dirty="0"/>
          </a:p>
        </p:txBody>
      </p:sp>
      <p:sp>
        <p:nvSpPr>
          <p:cNvPr id="40" name="Text 32"/>
          <p:cNvSpPr/>
          <p:nvPr/>
        </p:nvSpPr>
        <p:spPr>
          <a:xfrm>
            <a:off x="6263640" y="36118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SessionStart to SessionEnd. Security validation, quality gates, metric tracking, episode storage</a:t>
            </a:r>
            <a:endParaRPr lang="en-US" sz="950" dirty="0"/>
          </a:p>
        </p:txBody>
      </p:sp>
      <p:sp>
        <p:nvSpPr>
          <p:cNvPr id="41" name="Text 33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v5.18.0  |  96 Commits  |  51 Test Suites  |  Security Hardened  |  MIT Licensed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AF9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Build Your Startup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8745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While You Sleep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1828800" y="2743200"/>
            <a:ext cx="5486400" cy="640080"/>
          </a:xfrm>
          <a:prstGeom prst="rect">
            <a:avLst/>
          </a:prstGeom>
          <a:solidFill>
            <a:srgbClr val="1E1E1D"/>
          </a:solidFill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828800" y="27432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loki start ./my-startup-idea.md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Join the autonomous revolution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E1E1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434340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017520" y="4343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AF9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github.com/asklokesh/loki-mode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A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 us. Fork us. Ship with 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478</Words>
  <Application>Microsoft Macintosh PowerPoint</Application>
  <PresentationFormat>On-screen Show (16:9)</PresentationFormat>
  <Paragraphs>119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Consolas</vt:lpstr>
      <vt:lpstr>Georgia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Loki Mode - Multi-Agent Autonomous Startup System</dc:title>
  <dc:subject>The End of Linear Coding. The Beginning of Autonomous Swarms.</dc:subject>
  <dc:creator>Lokesh Mure</dc:creator>
  <cp:lastModifiedBy>Lokesh Mure</cp:lastModifiedBy>
  <cp:revision>3</cp:revision>
  <dcterms:created xsi:type="dcterms:W3CDTF">2026-02-04T03:50:58Z</dcterms:created>
  <dcterms:modified xsi:type="dcterms:W3CDTF">2026-02-04T05:08:37Z</dcterms:modified>
</cp:coreProperties>
</file>